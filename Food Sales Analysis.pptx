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258" r:id="rId6"/>
    <p:sldId id="268" r:id="rId7"/>
    <p:sldId id="269" r:id="rId8"/>
    <p:sldId id="273" r:id="rId9"/>
    <p:sldId id="271" r:id="rId10"/>
    <p:sldId id="259" r:id="rId11"/>
    <p:sldId id="260" r:id="rId12"/>
    <p:sldId id="272"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3"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492" autoAdjust="0"/>
  </p:normalViewPr>
  <p:slideViewPr>
    <p:cSldViewPr>
      <p:cViewPr varScale="1">
        <p:scale>
          <a:sx n="63" d="100"/>
          <a:sy n="63" d="100"/>
        </p:scale>
        <p:origin x="804" y="5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E03B7-B591-4A2A-B695-014C5A39F13E}" type="datetimeFigureOut">
              <a:rPr lang="en-US"/>
              <a:t>25/11/24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E322BB-75AD-4A1E-9661-2724167329F0}" type="slidenum">
              <a:rPr/>
              <a:t>‹#›</a:t>
            </a:fld>
            <a:endParaRPr/>
          </a:p>
        </p:txBody>
      </p:sp>
    </p:spTree>
    <p:extLst>
      <p:ext uri="{BB962C8B-B14F-4D97-AF65-F5344CB8AC3E}">
        <p14:creationId xmlns:p14="http://schemas.microsoft.com/office/powerpoint/2010/main" val="251270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FBD7B-E4FB-4AA8-9540-FD148073ACB3}" type="datetimeFigureOut">
              <a:rPr lang="en-US"/>
              <a:t>25/11/24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5B7DE-1198-4F2F-B574-CA8CAE341642}" type="slidenum">
              <a:rPr/>
              <a:t>‹#›</a:t>
            </a:fld>
            <a:endParaRPr/>
          </a:p>
        </p:txBody>
      </p:sp>
    </p:spTree>
    <p:extLst>
      <p:ext uri="{BB962C8B-B14F-4D97-AF65-F5344CB8AC3E}">
        <p14:creationId xmlns:p14="http://schemas.microsoft.com/office/powerpoint/2010/main" val="188231245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7" name="squares"/>
          <p:cNvGrpSpPr/>
          <p:nvPr/>
        </p:nvGrpSpPr>
        <p:grpSpPr>
          <a:xfrm>
            <a:off x="0" y="1135743"/>
            <a:ext cx="1622332" cy="799981"/>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1828324" y="362396"/>
            <a:ext cx="9141619" cy="1676400"/>
          </a:xfrm>
        </p:spPr>
        <p:txBody>
          <a:bodyPr>
            <a:noAutofit/>
          </a:bodyPr>
          <a:lstStyle>
            <a:lvl1pPr>
              <a:lnSpc>
                <a:spcPct val="80000"/>
              </a:lnSpc>
              <a:defRPr sz="6000"/>
            </a:lvl1pPr>
          </a:lstStyle>
          <a:p>
            <a:r>
              <a:rPr lang="en-US"/>
              <a:t>Click to edit Master title style</a:t>
            </a:r>
            <a:endParaRPr/>
          </a:p>
        </p:txBody>
      </p:sp>
      <p:sp>
        <p:nvSpPr>
          <p:cNvPr id="3" name="Subtitle 2"/>
          <p:cNvSpPr>
            <a:spLocks noGrp="1"/>
          </p:cNvSpPr>
          <p:nvPr>
            <p:ph type="subTitle" idx="1"/>
          </p:nvPr>
        </p:nvSpPr>
        <p:spPr>
          <a:xfrm>
            <a:off x="1828324" y="2089595"/>
            <a:ext cx="9141619" cy="886344"/>
          </a:xfrm>
        </p:spPr>
        <p:txBody>
          <a:bodyPr>
            <a:normAutofit/>
          </a:bodyPr>
          <a:lstStyle>
            <a:lvl1pPr marL="0" indent="0" algn="l">
              <a:buNone/>
              <a:defRPr sz="2800">
                <a:solidFill>
                  <a:schemeClr val="accent1">
                    <a:lumMod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7209051-6E81-43E8-9099-FF6A0C3DCFE8}" type="datetime1">
              <a:rPr lang="en-US"/>
              <a:t>25/11/24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887510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CC3EA6D-DF0B-4D4B-B359-5F1D1D0E30A4}" type="datetime1">
              <a:rPr lang="en-US"/>
              <a:t>25/11/24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3515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124415"/>
            <a:ext cx="1622332"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9" name="bottom graphic"/>
          <p:cNvGrpSpPr/>
          <p:nvPr/>
        </p:nvGrpSpPr>
        <p:grpSpPr>
          <a:xfrm>
            <a:off x="0" y="5409216"/>
            <a:ext cx="12188825" cy="1462483"/>
            <a:chOff x="0" y="4056912"/>
            <a:chExt cx="9144000" cy="1096862"/>
          </a:xfrm>
        </p:grpSpPr>
        <p:sp>
          <p:nvSpPr>
            <p:cNvPr id="20" name="Freeform 19"/>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1828324" y="1932518"/>
            <a:ext cx="9141619" cy="2105367"/>
          </a:xfrm>
        </p:spPr>
        <p:txBody>
          <a:bodyPr anchor="b">
            <a:normAutofit/>
          </a:bodyPr>
          <a:lstStyle>
            <a:lvl1pPr algn="l">
              <a:defRPr sz="6000" b="0" cap="none" baseline="0"/>
            </a:lvl1pPr>
          </a:lstStyle>
          <a:p>
            <a:r>
              <a:rPr lang="en-US"/>
              <a:t>Click to edit Master title style</a:t>
            </a:r>
            <a:endParaRPr/>
          </a:p>
        </p:txBody>
      </p:sp>
      <p:sp>
        <p:nvSpPr>
          <p:cNvPr id="3" name="Text Placeholder 2"/>
          <p:cNvSpPr>
            <a:spLocks noGrp="1"/>
          </p:cNvSpPr>
          <p:nvPr>
            <p:ph type="body" idx="1"/>
          </p:nvPr>
        </p:nvSpPr>
        <p:spPr>
          <a:xfrm>
            <a:off x="1828324" y="4084264"/>
            <a:ext cx="9141619" cy="933297"/>
          </a:xfrm>
        </p:spPr>
        <p:txBody>
          <a:bodyPr anchor="t">
            <a:normAutofit/>
          </a:bodyPr>
          <a:lstStyle>
            <a:lvl1pPr marL="0" indent="0">
              <a:buNone/>
              <a:defRPr sz="2800">
                <a:solidFill>
                  <a:schemeClr val="accent1">
                    <a:lumMod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77EDB99-15BC-4479-BAC5-1E502E66917A}" type="datetime1">
              <a:rPr lang="en-US"/>
              <a:t>25/11/24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3569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p>
            <a:r>
              <a:rPr lang="en-US"/>
              <a:t>Click to edit Master title style</a:t>
            </a:r>
            <a:endParaRPr/>
          </a:p>
        </p:txBody>
      </p:sp>
      <p:sp>
        <p:nvSpPr>
          <p:cNvPr id="3" name="Content Placeholder 2"/>
          <p:cNvSpPr>
            <a:spLocks noGrp="1"/>
          </p:cNvSpPr>
          <p:nvPr>
            <p:ph sz="half" idx="1"/>
          </p:nvPr>
        </p:nvSpPr>
        <p:spPr>
          <a:xfrm>
            <a:off x="1141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094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4067C2A3-CD19-48AB-9F64-ECCF75182EDD}" type="datetime1">
              <a:rPr lang="en-US"/>
              <a:t>25/11/24</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29779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1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41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094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094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363E8C1-7C87-4705-AB97-8CD17D208E3F}" type="datetime1">
              <a:rPr lang="en-US"/>
              <a:t>25/11/24</a:t>
            </a:fld>
            <a:endParaRPr/>
          </a:p>
        </p:txBody>
      </p:sp>
      <p:sp>
        <p:nvSpPr>
          <p:cNvPr id="9" name="Slide Number Placeholder 8"/>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48703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20C624E-DF92-4841-B9B9-DD11AA239B85}" type="datetime1">
              <a:rPr lang="en-US"/>
              <a:t>25/11/24</a:t>
            </a:fld>
            <a:endParaRPr/>
          </a:p>
        </p:txBody>
      </p:sp>
      <p:sp>
        <p:nvSpPr>
          <p:cNvPr id="5" name="Slide Number Placeholder 4"/>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9690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8" name="bottom graphic"/>
          <p:cNvGrpSpPr/>
          <p:nvPr/>
        </p:nvGrpSpPr>
        <p:grpSpPr>
          <a:xfrm>
            <a:off x="0" y="5409216"/>
            <a:ext cx="12188825" cy="1462483"/>
            <a:chOff x="0" y="4056912"/>
            <a:chExt cx="9144000" cy="1096862"/>
          </a:xfrm>
        </p:grpSpPr>
        <p:sp>
          <p:nvSpPr>
            <p:cNvPr id="9" name="Freeform 8"/>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FBDA3AE1-4360-4D5B-BDBC-656B872DD533}" type="datetime1">
              <a:rPr lang="en-US"/>
              <a:t>25/11/24</a:t>
            </a:fld>
            <a:endParaRPr/>
          </a:p>
        </p:txBody>
      </p:sp>
      <p:sp>
        <p:nvSpPr>
          <p:cNvPr id="4" name="Slide Number Placeholder 3"/>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22539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5530" y="1600200"/>
            <a:ext cx="6094413"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218883" y="1600202"/>
            <a:ext cx="34535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20990708-46A4-4851-883E-8DFB8939107E}" type="datetime1">
              <a:rPr lang="en-US"/>
              <a:t>25/11/24</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8396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8887" y="1600200"/>
            <a:ext cx="6703850"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8125883" y="1600200"/>
            <a:ext cx="2844059"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E88EFFC-86AE-4294-A319-CAFC2651994B}" type="datetime1">
              <a:rPr lang="en-US"/>
              <a:t>25/11/24</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4298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CEAB04-7709-4C1E-A61A-74684A0170FC}" type="datetime1">
              <a:rPr lang="en-US"/>
              <a:t>25/11/24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64082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3007" y="233864"/>
            <a:ext cx="1063300" cy="524046"/>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5" name="bottom graphic"/>
          <p:cNvGrpSpPr/>
          <p:nvPr/>
        </p:nvGrpSpPr>
        <p:grpSpPr>
          <a:xfrm>
            <a:off x="0" y="5395517"/>
            <a:ext cx="12188825"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Vertical Title 1"/>
          <p:cNvSpPr>
            <a:spLocks noGrp="1"/>
          </p:cNvSpPr>
          <p:nvPr>
            <p:ph type="title" orient="vert"/>
          </p:nvPr>
        </p:nvSpPr>
        <p:spPr>
          <a:xfrm>
            <a:off x="9751060" y="1150514"/>
            <a:ext cx="1828324" cy="5021685"/>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1150514"/>
            <a:ext cx="8227457" cy="5021685"/>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C79BD0D-E0B1-4CED-AC65-708AC79EB9CD}" type="datetime1">
              <a:rPr lang="en-US"/>
              <a:t>25/11/24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8164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1" name="bottom graphic"/>
          <p:cNvGrpSpPr/>
          <p:nvPr/>
        </p:nvGrpSpPr>
        <p:grpSpPr>
          <a:xfrm>
            <a:off x="0" y="5409216"/>
            <a:ext cx="12188825" cy="1462483"/>
            <a:chOff x="0" y="4056912"/>
            <a:chExt cx="9144000" cy="1096862"/>
          </a:xfrm>
        </p:grpSpPr>
        <p:sp>
          <p:nvSpPr>
            <p:cNvPr id="21" name="Freeform 20"/>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grpSp>
        <p:nvGrpSpPr>
          <p:cNvPr id="7" name="squares"/>
          <p:cNvGrpSpPr/>
          <p:nvPr/>
        </p:nvGrpSpPr>
        <p:grpSpPr>
          <a:xfrm>
            <a:off x="1" y="800551"/>
            <a:ext cx="1063023"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152400"/>
            <a:ext cx="9751060" cy="1295400"/>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600200"/>
            <a:ext cx="9751060" cy="45720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218883" y="6448425"/>
            <a:ext cx="8288401" cy="180976"/>
          </a:xfrm>
          <a:prstGeom prst="rect">
            <a:avLst/>
          </a:prstGeom>
        </p:spPr>
        <p:txBody>
          <a:bodyPr vert="horz" lIns="121899" tIns="60949" rIns="121899" bIns="60949" rtlCol="0" anchor="ctr"/>
          <a:lstStyle>
            <a:lvl1pPr algn="l">
              <a:defRPr sz="1200">
                <a:solidFill>
                  <a:schemeClr val="tx1"/>
                </a:solidFill>
              </a:defRPr>
            </a:lvl1pPr>
          </a:lstStyle>
          <a:p>
            <a:r>
              <a:rPr lang="en-US" dirty="0"/>
              <a:t>Add a footer</a:t>
            </a:r>
          </a:p>
        </p:txBody>
      </p:sp>
      <p:sp>
        <p:nvSpPr>
          <p:cNvPr id="4" name="Date Placeholder 3"/>
          <p:cNvSpPr>
            <a:spLocks noGrp="1"/>
          </p:cNvSpPr>
          <p:nvPr>
            <p:ph type="dt" sz="half" idx="2"/>
          </p:nvPr>
        </p:nvSpPr>
        <p:spPr>
          <a:xfrm>
            <a:off x="9547913" y="6448425"/>
            <a:ext cx="1422030" cy="180976"/>
          </a:xfrm>
          <a:prstGeom prst="rect">
            <a:avLst/>
          </a:prstGeom>
        </p:spPr>
        <p:txBody>
          <a:bodyPr vert="horz" lIns="121899" tIns="60949" rIns="121899" bIns="60949" rtlCol="0" anchor="ctr"/>
          <a:lstStyle>
            <a:lvl1pPr algn="r">
              <a:defRPr sz="1200">
                <a:solidFill>
                  <a:schemeClr val="tx1"/>
                </a:solidFill>
              </a:defRPr>
            </a:lvl1pPr>
          </a:lstStyle>
          <a:p>
            <a:fld id="{D29E8617-6EA8-4B97-A5E8-E18E98765EE2}" type="datetime1">
              <a:rPr lang="en-US"/>
              <a:pPr/>
              <a:t>25/11/24</a:t>
            </a:fld>
            <a:endParaRPr dirty="0"/>
          </a:p>
        </p:txBody>
      </p:sp>
      <p:sp>
        <p:nvSpPr>
          <p:cNvPr id="6" name="Slide Number Placeholder 5"/>
          <p:cNvSpPr>
            <a:spLocks noGrp="1"/>
          </p:cNvSpPr>
          <p:nvPr>
            <p:ph type="sldNum" sz="quarter" idx="4"/>
          </p:nvPr>
        </p:nvSpPr>
        <p:spPr>
          <a:xfrm>
            <a:off x="11071516" y="6448425"/>
            <a:ext cx="812588" cy="180976"/>
          </a:xfrm>
          <a:prstGeom prst="rect">
            <a:avLst/>
          </a:prstGeom>
        </p:spPr>
        <p:txBody>
          <a:bodyPr vert="horz" lIns="121899" tIns="60949" rIns="121899" bIns="60949" rtlCol="0" anchor="ctr"/>
          <a:lstStyle>
            <a:lvl1pPr algn="r">
              <a:defRPr sz="1200">
                <a:solidFill>
                  <a:schemeClr val="tx1"/>
                </a:solidFill>
              </a:defRPr>
            </a:lvl1pPr>
          </a:lstStyle>
          <a:p>
            <a:fld id="{34C99D79-8A4B-4031-B1E0-AF26F8EDF2BC}" type="slidenum">
              <a:rPr/>
              <a:pPr/>
              <a:t>‹#›</a:t>
            </a:fld>
            <a:endParaRPr/>
          </a:p>
        </p:txBody>
      </p:sp>
    </p:spTree>
    <p:extLst>
      <p:ext uri="{BB962C8B-B14F-4D97-AF65-F5344CB8AC3E}">
        <p14:creationId xmlns:p14="http://schemas.microsoft.com/office/powerpoint/2010/main" val="178268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800"/>
        </a:spcBef>
        <a:buClr>
          <a:schemeClr val="accent1">
            <a:lumMod val="75000"/>
          </a:schemeClr>
        </a:buClr>
        <a:buFont typeface="Arial" pitchFamily="34" charset="0"/>
        <a:buChar char="•"/>
        <a:defRPr sz="2800" kern="1200">
          <a:solidFill>
            <a:schemeClr val="tx1"/>
          </a:solidFill>
          <a:latin typeface="+mn-lt"/>
          <a:ea typeface="+mn-ea"/>
          <a:cs typeface="+mn-cs"/>
        </a:defRPr>
      </a:lvl1pPr>
      <a:lvl2pPr marL="755772" indent="-304747" algn="l" defTabSz="1218987" rtl="0" eaLnBrk="1" latinLnBrk="0" hangingPunct="1">
        <a:lnSpc>
          <a:spcPct val="90000"/>
        </a:lnSpc>
        <a:spcBef>
          <a:spcPts val="1200"/>
        </a:spcBef>
        <a:buClr>
          <a:schemeClr val="accent1">
            <a:lumMod val="75000"/>
          </a:schemeClr>
        </a:buClr>
        <a:buFont typeface="Arial" pitchFamily="34" charset="0"/>
        <a:buChar char="–"/>
        <a:defRPr sz="2400" kern="1200">
          <a:solidFill>
            <a:schemeClr val="tx1"/>
          </a:solidFill>
          <a:latin typeface="+mn-lt"/>
          <a:ea typeface="+mn-ea"/>
          <a:cs typeface="+mn-cs"/>
        </a:defRPr>
      </a:lvl2pPr>
      <a:lvl3pPr marL="120679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3pPr>
      <a:lvl4pPr marL="1657822"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4pPr>
      <a:lvl5pPr marL="210884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Food Sales Analysis</a:t>
            </a:r>
          </a:p>
        </p:txBody>
      </p:sp>
    </p:spTree>
    <p:extLst>
      <p:ext uri="{BB962C8B-B14F-4D97-AF65-F5344CB8AC3E}">
        <p14:creationId xmlns:p14="http://schemas.microsoft.com/office/powerpoint/2010/main" val="280183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Title and Content Layout</a:t>
            </a:r>
          </a:p>
        </p:txBody>
      </p:sp>
      <p:sp>
        <p:nvSpPr>
          <p:cNvPr id="6" name="Content Placeholder 5"/>
          <p:cNvSpPr>
            <a:spLocks noGrp="1"/>
          </p:cNvSpPr>
          <p:nvPr>
            <p:ph idx="1"/>
          </p:nvPr>
        </p:nvSpPr>
        <p:spPr/>
        <p:txBody>
          <a:bodyPr/>
          <a:lstStyle/>
          <a:p>
            <a:r>
              <a:rPr lang="en-US" dirty="0"/>
              <a:t>Introduction</a:t>
            </a:r>
          </a:p>
          <a:p>
            <a:r>
              <a:rPr lang="en-US" dirty="0"/>
              <a:t>Objectives</a:t>
            </a:r>
          </a:p>
          <a:p>
            <a:r>
              <a:rPr lang="en-US" dirty="0"/>
              <a:t>Statement Of Problem</a:t>
            </a:r>
          </a:p>
          <a:p>
            <a:r>
              <a:rPr lang="en-US" dirty="0"/>
              <a:t>Dashboard Overview</a:t>
            </a:r>
          </a:p>
          <a:p>
            <a:r>
              <a:rPr lang="en-US" dirty="0"/>
              <a:t>Key Insights</a:t>
            </a:r>
          </a:p>
          <a:p>
            <a:r>
              <a:rPr lang="en-US" dirty="0"/>
              <a:t>Recommendations</a:t>
            </a:r>
          </a:p>
          <a:p>
            <a:r>
              <a:rPr lang="en-US" dirty="0"/>
              <a:t>Summary</a:t>
            </a:r>
          </a:p>
          <a:p>
            <a:endParaRPr lang="en-US" dirty="0"/>
          </a:p>
        </p:txBody>
      </p:sp>
    </p:spTree>
    <p:extLst>
      <p:ext uri="{BB962C8B-B14F-4D97-AF65-F5344CB8AC3E}">
        <p14:creationId xmlns:p14="http://schemas.microsoft.com/office/powerpoint/2010/main" val="204134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52822C8-2D91-506E-0E7A-FA296B0D28EF}"/>
              </a:ext>
            </a:extLst>
          </p:cNvPr>
          <p:cNvSpPr>
            <a:spLocks noGrp="1"/>
          </p:cNvSpPr>
          <p:nvPr>
            <p:ph idx="1"/>
          </p:nvPr>
        </p:nvSpPr>
        <p:spPr/>
        <p:txBody>
          <a:bodyPr>
            <a:normAutofit fontScale="92500" lnSpcReduction="20000"/>
          </a:bodyPr>
          <a:lstStyle/>
          <a:p>
            <a:r>
              <a:rPr lang="en-US" sz="2400" dirty="0"/>
              <a:t>Let's talk about where we stand as a business. We've put together this sales report because understanding our numbers isn't just about celebrating wins it's about making smarter decisions that keep us growing and competitive.</a:t>
            </a:r>
          </a:p>
          <a:p>
            <a:r>
              <a:rPr lang="en-US" sz="2400" dirty="0"/>
              <a:t>Right now, we're doing 7 million in revenue with 298 customers spread across four regions: West, North, East, and South. We sell six main products across three categories: Food, Staples, and Drinks. Pretty straightforward, right? But when you dig into the details, some interesting patterns emerge</a:t>
            </a:r>
            <a:r>
              <a:rPr lang="en-US" dirty="0"/>
              <a:t>.</a:t>
            </a:r>
          </a:p>
          <a:p>
            <a:r>
              <a:rPr lang="en-US" sz="2400" dirty="0"/>
              <a:t>This dashboard tells our story: What's working really well, where we're leaving money on the table, and honestly, where we need to step up our game. We're looking at everything from which regions are crushing it to which customers are keeping our lights on, and whether our product mix is actually serving us or if we could do better.</a:t>
            </a:r>
          </a:p>
          <a:p>
            <a:r>
              <a:rPr lang="en-US" sz="2400" dirty="0"/>
              <a:t>The goal here isn't just to present numbers it's to have an honest conversation about our business so we can make the right moves going forward.</a:t>
            </a:r>
          </a:p>
          <a:p>
            <a:endParaRPr lang="en-US" dirty="0"/>
          </a:p>
        </p:txBody>
      </p:sp>
    </p:spTree>
    <p:extLst>
      <p:ext uri="{BB962C8B-B14F-4D97-AF65-F5344CB8AC3E}">
        <p14:creationId xmlns:p14="http://schemas.microsoft.com/office/powerpoint/2010/main" val="42464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536575"/>
            <a:ext cx="9751060" cy="879473"/>
          </a:xfrm>
        </p:spPr>
        <p:txBody>
          <a:bodyPr/>
          <a:lstStyle/>
          <a:p>
            <a:r>
              <a:rPr lang="en-US" dirty="0"/>
              <a:t>OBJECTIVES</a:t>
            </a:r>
          </a:p>
        </p:txBody>
      </p:sp>
      <p:sp>
        <p:nvSpPr>
          <p:cNvPr id="10" name="Rectangle 2">
            <a:extLst>
              <a:ext uri="{FF2B5EF4-FFF2-40B4-BE49-F238E27FC236}">
                <a16:creationId xmlns:a16="http://schemas.microsoft.com/office/drawing/2014/main" id="{AF96EFFE-69E2-8972-C912-FF789238F045}"/>
              </a:ext>
            </a:extLst>
          </p:cNvPr>
          <p:cNvSpPr>
            <a:spLocks noChangeArrowheads="1"/>
          </p:cNvSpPr>
          <p:nvPr/>
        </p:nvSpPr>
        <p:spPr bwMode="auto">
          <a:xfrm>
            <a:off x="0" y="457200"/>
            <a:ext cx="12188825"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A2CA5FFE-7576-5F8F-6B3F-0D0E4E324219}"/>
              </a:ext>
            </a:extLst>
          </p:cNvPr>
          <p:cNvSpPr txBox="1"/>
          <p:nvPr/>
        </p:nvSpPr>
        <p:spPr>
          <a:xfrm>
            <a:off x="1089024" y="1949113"/>
            <a:ext cx="9601200" cy="3847207"/>
          </a:xfrm>
          <a:prstGeom prst="rect">
            <a:avLst/>
          </a:prstGeom>
          <a:noFill/>
        </p:spPr>
        <p:txBody>
          <a:bodyPr wrap="square" rtlCol="0">
            <a:spAutoFit/>
          </a:bodyPr>
          <a:lstStyle/>
          <a:p>
            <a:r>
              <a:rPr lang="en-US" sz="2000" dirty="0"/>
              <a:t>Here's what we're trying to figure out with this analysis:</a:t>
            </a:r>
          </a:p>
          <a:p>
            <a:pPr marL="457200" indent="-457200">
              <a:buFont typeface="+mj-lt"/>
              <a:buAutoNum type="arabicPeriod"/>
            </a:pPr>
            <a:r>
              <a:rPr lang="en-US" sz="2000" b="1" dirty="0"/>
              <a:t>Get a clear picture of how we're really doing</a:t>
            </a:r>
            <a:r>
              <a:rPr lang="en-US" sz="2000" dirty="0"/>
              <a:t> : Beyond just the headline revenue number, we want to understand if our sales engine is healthy or if there are warning signs we're missing.</a:t>
            </a:r>
          </a:p>
          <a:p>
            <a:pPr marL="457200" indent="-457200">
              <a:buFont typeface="+mj-lt"/>
              <a:buAutoNum type="arabicPeriod"/>
            </a:pPr>
            <a:r>
              <a:rPr lang="en-US" sz="2000" b="1" dirty="0"/>
              <a:t>Understand why some regions are winning and others aren’t</a:t>
            </a:r>
            <a:r>
              <a:rPr lang="en-US" sz="2000" dirty="0"/>
              <a:t> : The West is killing it, but the South? Not so much. We need to know why and what we can do about it.</a:t>
            </a:r>
          </a:p>
          <a:p>
            <a:pPr marL="457200" indent="-457200">
              <a:buFont typeface="+mj-lt"/>
              <a:buAutoNum type="arabicPeriod"/>
            </a:pPr>
            <a:r>
              <a:rPr lang="en-US" sz="2000" b="1" dirty="0"/>
              <a:t>Find the leaks in our system</a:t>
            </a:r>
            <a:r>
              <a:rPr lang="en-US" sz="2000" dirty="0"/>
              <a:t> : Money that's "pending" is money we haven't collected yet. What's causing the delays, and how do we fix it?</a:t>
            </a:r>
          </a:p>
          <a:p>
            <a:pPr marL="457200" indent="-457200">
              <a:buFont typeface="+mj-lt"/>
              <a:buAutoNum type="arabicPeriod"/>
            </a:pPr>
            <a:r>
              <a:rPr lang="en-US" sz="2000" b="1" dirty="0"/>
              <a:t>Walk away with a game plan</a:t>
            </a:r>
            <a:r>
              <a:rPr lang="en-US" sz="2000" dirty="0"/>
              <a:t> : Numbers are nice, but we need actionable steps we can take tomorrow to improve our business.</a:t>
            </a:r>
          </a:p>
          <a:p>
            <a:pPr marL="457200" indent="-457200">
              <a:buFont typeface="+mj-lt"/>
              <a:buAutoNum type="arabicPeriod"/>
            </a:pPr>
            <a:endParaRPr lang="en-US" dirty="0"/>
          </a:p>
        </p:txBody>
      </p:sp>
    </p:spTree>
    <p:extLst>
      <p:ext uri="{BB962C8B-B14F-4D97-AF65-F5344CB8AC3E}">
        <p14:creationId xmlns:p14="http://schemas.microsoft.com/office/powerpoint/2010/main" val="3980665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000B-CC23-C7AE-AE71-319640E3FE0B}"/>
              </a:ext>
            </a:extLst>
          </p:cNvPr>
          <p:cNvSpPr>
            <a:spLocks noGrp="1"/>
          </p:cNvSpPr>
          <p:nvPr>
            <p:ph type="title"/>
          </p:nvPr>
        </p:nvSpPr>
        <p:spPr>
          <a:xfrm>
            <a:off x="1141412" y="152400"/>
            <a:ext cx="9751060" cy="1143000"/>
          </a:xfrm>
        </p:spPr>
        <p:txBody>
          <a:bodyPr/>
          <a:lstStyle/>
          <a:p>
            <a:r>
              <a:rPr lang="en-US" dirty="0"/>
              <a:t>STATEMENT OF PROBLEM</a:t>
            </a:r>
          </a:p>
        </p:txBody>
      </p:sp>
      <p:sp>
        <p:nvSpPr>
          <p:cNvPr id="3" name="Content Placeholder 2">
            <a:extLst>
              <a:ext uri="{FF2B5EF4-FFF2-40B4-BE49-F238E27FC236}">
                <a16:creationId xmlns:a16="http://schemas.microsoft.com/office/drawing/2014/main" id="{3FDF5C7E-389C-6BB3-86CD-2DCDB4D25A11}"/>
              </a:ext>
            </a:extLst>
          </p:cNvPr>
          <p:cNvSpPr>
            <a:spLocks noGrp="1"/>
          </p:cNvSpPr>
          <p:nvPr>
            <p:ph sz="half" idx="1"/>
          </p:nvPr>
        </p:nvSpPr>
        <p:spPr>
          <a:xfrm>
            <a:off x="1141412" y="1371600"/>
            <a:ext cx="9751060" cy="4800600"/>
          </a:xfrm>
        </p:spPr>
        <p:txBody>
          <a:bodyPr>
            <a:normAutofit lnSpcReduction="10000"/>
          </a:bodyPr>
          <a:lstStyle/>
          <a:p>
            <a:r>
              <a:rPr lang="en-US" sz="2000" dirty="0"/>
              <a:t>Our revenue is concentrated in the hands of too few customers</a:t>
            </a:r>
            <a:r>
              <a:rPr lang="en-US" sz="2000" b="1" dirty="0"/>
              <a:t>.</a:t>
            </a:r>
            <a:r>
              <a:rPr lang="en-US" sz="2000" dirty="0"/>
              <a:t> When you look at that customer chart, you see names like Bridget Diaz, Dawn Williams, and Shannon Craig carrying massive portions of our business. With only 298 total customers generating 7 million, basic math tells us that our top 20-30 customers probably account for more than half our revenue.</a:t>
            </a:r>
          </a:p>
          <a:p>
            <a:r>
              <a:rPr lang="en-US" sz="2000" dirty="0"/>
              <a:t>Three Regions Are Underperforming and we don’t know why, the West region is crushing it while the South, East, and North are leaving millions on the table. Look at that regional revenue chart the West is pulling in nearly 6M while the South barely hits 3.5M. That's not a small gap; that's almost a 2-to-1 difference.</a:t>
            </a:r>
          </a:p>
          <a:p>
            <a:r>
              <a:rPr lang="en-US" sz="2000" dirty="0"/>
              <a:t>We’re earning money we’re not collecting ,the pending revenue trend is a slow motion cash flow disaster</a:t>
            </a:r>
            <a:r>
              <a:rPr lang="en-US" sz="2000" b="1" dirty="0"/>
              <a:t>.</a:t>
            </a:r>
            <a:r>
              <a:rPr lang="en-US" sz="2000" dirty="0"/>
              <a:t> That line chart showing pending revenue declining from West (2.5M) to South (0.7M) isn't just interesting data it's a warning sign that our revenue collection system is broken in different ways across different regions. Let's be clear about what "pending revenue" means: it's money we've already earned, products we've already delivered, but cash we haven't actually received yet</a:t>
            </a:r>
            <a:r>
              <a:rPr lang="en-US" sz="2000" b="1" dirty="0"/>
              <a:t>.</a:t>
            </a:r>
            <a:r>
              <a:rPr lang="en-US" sz="2000" dirty="0"/>
              <a:t> It's sitting in limbo, not in our bank account where we can use it to buy inventory, pay employees, or invest in growth.</a:t>
            </a:r>
          </a:p>
          <a:p>
            <a:endParaRPr lang="en-US" sz="2000" dirty="0"/>
          </a:p>
          <a:p>
            <a:endParaRPr lang="en-US" sz="2000" dirty="0"/>
          </a:p>
        </p:txBody>
      </p:sp>
    </p:spTree>
    <p:extLst>
      <p:ext uri="{BB962C8B-B14F-4D97-AF65-F5344CB8AC3E}">
        <p14:creationId xmlns:p14="http://schemas.microsoft.com/office/powerpoint/2010/main" val="377060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p>
            <a:r>
              <a:rPr lang="en-US" dirty="0"/>
              <a:t>DASHBOARD OVERVIEW</a:t>
            </a:r>
          </a:p>
        </p:txBody>
      </p:sp>
      <p:pic>
        <p:nvPicPr>
          <p:cNvPr id="10" name="Content Placeholder 9">
            <a:extLst>
              <a:ext uri="{FF2B5EF4-FFF2-40B4-BE49-F238E27FC236}">
                <a16:creationId xmlns:a16="http://schemas.microsoft.com/office/drawing/2014/main" id="{F60042BB-7B8E-9AA3-1019-D1DCE076D73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0522" y="1615968"/>
            <a:ext cx="11957490" cy="5089632"/>
          </a:xfrm>
        </p:spPr>
      </p:pic>
    </p:spTree>
    <p:extLst>
      <p:ext uri="{BB962C8B-B14F-4D97-AF65-F5344CB8AC3E}">
        <p14:creationId xmlns:p14="http://schemas.microsoft.com/office/powerpoint/2010/main" val="249061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324" y="1"/>
            <a:ext cx="9141619" cy="838199"/>
          </a:xfrm>
        </p:spPr>
        <p:txBody>
          <a:bodyPr>
            <a:normAutofit fontScale="90000"/>
          </a:bodyPr>
          <a:lstStyle/>
          <a:p>
            <a:r>
              <a:rPr lang="en-US" dirty="0"/>
              <a:t>KEY INSIGHTS</a:t>
            </a:r>
          </a:p>
        </p:txBody>
      </p:sp>
      <p:sp>
        <p:nvSpPr>
          <p:cNvPr id="3" name="Text Placeholder 2"/>
          <p:cNvSpPr>
            <a:spLocks noGrp="1"/>
          </p:cNvSpPr>
          <p:nvPr>
            <p:ph type="body" idx="1"/>
          </p:nvPr>
        </p:nvSpPr>
        <p:spPr>
          <a:xfrm>
            <a:off x="1828324" y="990600"/>
            <a:ext cx="10210800" cy="4876800"/>
          </a:xfrm>
        </p:spPr>
        <p:txBody>
          <a:bodyPr/>
          <a:lstStyle/>
          <a:p>
            <a:r>
              <a:rPr lang="en-US" sz="1800" b="1" dirty="0"/>
              <a:t>Overall Performance Snapshot</a:t>
            </a:r>
            <a:r>
              <a:rPr lang="en-US" sz="1800" dirty="0"/>
              <a:t>: The business is showing some impressive numbers with 7M in total paid revenue from 298 unique customers</a:t>
            </a:r>
            <a:r>
              <a:rPr lang="en-US" dirty="0"/>
              <a:t>.</a:t>
            </a:r>
          </a:p>
          <a:p>
            <a:r>
              <a:rPr lang="en-US" sz="1800" b="1" dirty="0"/>
              <a:t>Regional Performance</a:t>
            </a:r>
            <a:r>
              <a:rPr lang="en-US" sz="1800" dirty="0"/>
              <a:t>: The West region is our clear winner, generating the most revenue, while the South lags behind. What's concerning is that "Pending Revenue by Region" chart showing a declining trend from West to South this suggests either payment delays or fulfillment issues that vary by geography.</a:t>
            </a:r>
          </a:p>
          <a:p>
            <a:r>
              <a:rPr lang="en-US" sz="1800" b="1" dirty="0"/>
              <a:t>Product &amp; Category Mix</a:t>
            </a:r>
            <a:r>
              <a:rPr lang="en-US" sz="1800" dirty="0"/>
              <a:t>: Food dominates our category sales at 37.41%, which makes sense if that's your core business. However, your product distribution is relatively balanced across Beans, Oil, Milk, Rice, Bread, and Soda (each ranging from about 11-15% of sales). This diversity is actually healthy  we’re not overly dependent on any single product.</a:t>
            </a:r>
          </a:p>
          <a:p>
            <a:r>
              <a:rPr lang="en-US" sz="1800" b="1" dirty="0"/>
              <a:t>Customer Concentration</a:t>
            </a:r>
            <a:r>
              <a:rPr lang="en-US" sz="1800" dirty="0"/>
              <a:t>: Our top customers (Bridget Diaz, Dawn Williams, Shannon Craig) are carrying significant weight in our revenue. While having strong relationships with key accounts is great, this concentration creates risk. If one or two of these customers reduce their orders, it could significantly impact our bottom line.</a:t>
            </a:r>
          </a:p>
        </p:txBody>
      </p:sp>
    </p:spTree>
    <p:extLst>
      <p:ext uri="{BB962C8B-B14F-4D97-AF65-F5344CB8AC3E}">
        <p14:creationId xmlns:p14="http://schemas.microsoft.com/office/powerpoint/2010/main" val="28906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838200"/>
          </a:xfrm>
        </p:spPr>
        <p:txBody>
          <a:bodyPr/>
          <a:lstStyle/>
          <a:p>
            <a:r>
              <a:rPr lang="en-US" dirty="0"/>
              <a:t>RECOMMENDATIONS</a:t>
            </a:r>
          </a:p>
        </p:txBody>
      </p:sp>
      <p:sp>
        <p:nvSpPr>
          <p:cNvPr id="12" name="Content Placeholder 11"/>
          <p:cNvSpPr>
            <a:spLocks noGrp="1"/>
          </p:cNvSpPr>
          <p:nvPr>
            <p:ph sz="half" idx="2"/>
          </p:nvPr>
        </p:nvSpPr>
        <p:spPr>
          <a:xfrm>
            <a:off x="1141412" y="1295400"/>
            <a:ext cx="10820400" cy="5410200"/>
          </a:xfrm>
        </p:spPr>
        <p:txBody>
          <a:bodyPr/>
          <a:lstStyle/>
          <a:p>
            <a:pPr marL="0" indent="0">
              <a:buNone/>
            </a:pPr>
            <a:r>
              <a:rPr lang="en-US" sz="1800" b="1" dirty="0"/>
              <a:t>Diversify our customer base</a:t>
            </a:r>
            <a:r>
              <a:rPr lang="en-US" sz="1800" dirty="0"/>
              <a:t> : With only 298 unique customers generating 7M, we have good average order values (around 24.98 per transaction based on average quantity).We need to consider a customer acquisition campaign to reduce dependency on our top accounts</a:t>
            </a:r>
            <a:r>
              <a:rPr lang="en-US" dirty="0"/>
              <a:t>.</a:t>
            </a:r>
          </a:p>
          <a:p>
            <a:pPr marL="0" indent="0">
              <a:buNone/>
            </a:pPr>
            <a:r>
              <a:rPr lang="en-US" sz="1800" b="1" dirty="0"/>
              <a:t>Address pending revenues</a:t>
            </a:r>
            <a:r>
              <a:rPr lang="en-US" sz="1800" dirty="0"/>
              <a:t> : The downward trend in pending revenue by region suggests operational inefficiencies. We need to review our payment collection and fulfillment processes, especially in the East, North, and South regions.</a:t>
            </a:r>
          </a:p>
          <a:p>
            <a:pPr marL="0" indent="0">
              <a:buNone/>
            </a:pPr>
            <a:r>
              <a:rPr lang="en-US" sz="1800" b="1" dirty="0"/>
              <a:t>Maintain our product balance</a:t>
            </a:r>
            <a:r>
              <a:rPr lang="en-US" sz="1800" dirty="0"/>
              <a:t> : Our diversified product mix is working well. We don’t need to over pivot unless we see clear opportunities for margin improvement in specific categories. The foundation is solid, but there's definitely room to tighten operations and reduce risk through customer diversification.</a:t>
            </a:r>
          </a:p>
          <a:p>
            <a:pPr marL="0" indent="0">
              <a:buNone/>
            </a:pPr>
            <a:r>
              <a:rPr lang="en-US" sz="1800" b="1" dirty="0"/>
              <a:t>Investigate regional disparities</a:t>
            </a:r>
            <a:r>
              <a:rPr lang="en-US" sz="1800" dirty="0"/>
              <a:t> : We need to figure out why the South is underperforming? Is it market penetration, logistics costs, competition, or something else? Similarly, understand what's working in the West so we can replicate it.</a:t>
            </a:r>
          </a:p>
          <a:p>
            <a:pPr marL="0" indent="0">
              <a:buNone/>
            </a:pPr>
            <a:endParaRPr lang="en-US" sz="1800" dirty="0"/>
          </a:p>
        </p:txBody>
      </p:sp>
    </p:spTree>
    <p:extLst>
      <p:ext uri="{BB962C8B-B14F-4D97-AF65-F5344CB8AC3E}">
        <p14:creationId xmlns:p14="http://schemas.microsoft.com/office/powerpoint/2010/main" val="289162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4A8D5B-972E-DF57-2FA8-21B8D7269FCB}"/>
              </a:ext>
            </a:extLst>
          </p:cNvPr>
          <p:cNvSpPr>
            <a:spLocks noGrp="1"/>
          </p:cNvSpPr>
          <p:nvPr>
            <p:ph type="title"/>
          </p:nvPr>
        </p:nvSpPr>
        <p:spPr>
          <a:xfrm>
            <a:off x="1218883" y="152400"/>
            <a:ext cx="9751060" cy="1066800"/>
          </a:xfrm>
        </p:spPr>
        <p:txBody>
          <a:bodyPr/>
          <a:lstStyle/>
          <a:p>
            <a:r>
              <a:rPr lang="en-US" dirty="0"/>
              <a:t>SUMMARY</a:t>
            </a:r>
          </a:p>
        </p:txBody>
      </p:sp>
      <p:sp>
        <p:nvSpPr>
          <p:cNvPr id="4" name="Content Placeholder 3">
            <a:extLst>
              <a:ext uri="{FF2B5EF4-FFF2-40B4-BE49-F238E27FC236}">
                <a16:creationId xmlns:a16="http://schemas.microsoft.com/office/drawing/2014/main" id="{BE21B887-88A6-5BA0-A9FE-9A1512BC2AE9}"/>
              </a:ext>
            </a:extLst>
          </p:cNvPr>
          <p:cNvSpPr>
            <a:spLocks noGrp="1"/>
          </p:cNvSpPr>
          <p:nvPr>
            <p:ph idx="1"/>
          </p:nvPr>
        </p:nvSpPr>
        <p:spPr>
          <a:xfrm>
            <a:off x="1218883" y="1447800"/>
            <a:ext cx="9751060" cy="4724400"/>
          </a:xfrm>
        </p:spPr>
        <p:txBody>
          <a:bodyPr>
            <a:normAutofit/>
          </a:bodyPr>
          <a:lstStyle/>
          <a:p>
            <a:pPr marL="0" indent="0">
              <a:buNone/>
            </a:pPr>
            <a:r>
              <a:rPr lang="en-US" sz="2000" dirty="0"/>
              <a:t>The good news is we've hit 7 million in revenue with 298 customers, which means each customer is worth serious money to us averaging about 25 units per transaction. That's actually impressive. We're not chasing pennies; we're building real relationships with customers who buy in volume.</a:t>
            </a:r>
          </a:p>
          <a:p>
            <a:pPr marL="0" indent="0">
              <a:buNone/>
            </a:pPr>
            <a:r>
              <a:rPr lang="en-US" sz="2000" dirty="0"/>
              <a:t>The path forward is clear, what we need to do is fix our tracking so we actually know what's happening, launch a serious customer acquisition push to spread our risk, get to the bottom of why the South and other regions aren't performing like the West, tighten up our payment collection processes everywhere, and keep doing what's working with our product mix while staying alert for ways to improve margins.</a:t>
            </a:r>
          </a:p>
          <a:p>
            <a:pPr marL="0" indent="0">
              <a:buNone/>
            </a:pPr>
            <a:r>
              <a:rPr lang="en-US" sz="2000" dirty="0"/>
              <a:t>We've built something solid here. Now we need to make it stronger and more resilient. This report lays out exactly how we're going to do that.</a:t>
            </a:r>
          </a:p>
          <a:p>
            <a:endParaRPr lang="en-US" sz="2000" dirty="0"/>
          </a:p>
        </p:txBody>
      </p:sp>
    </p:spTree>
    <p:extLst>
      <p:ext uri="{BB962C8B-B14F-4D97-AF65-F5344CB8AC3E}">
        <p14:creationId xmlns:p14="http://schemas.microsoft.com/office/powerpoint/2010/main" val="267295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oking 16x9">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extLst>
    <a:ext uri="{05A4C25C-085E-4340-85A3-A5531E510DB2}">
      <thm15:themeFamily xmlns:thm15="http://schemas.microsoft.com/office/thememl/2012/main" name="Fresh food presentation (widescreen).potx" id="{63DD3034-9CB5-4B6F-BCA0-530A5E267AB2}" vid="{9783A5E3-1DF2-4F3C-8902-0C2EB8A188D6}"/>
    </a:ext>
  </a:extLst>
</a:theme>
</file>

<file path=ppt/theme/theme2.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ppt/theme/theme3.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700CCB-20BA-4760-AB9F-AC3B63ED32E0}">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40262f94-9f35-4ac3-9a90-690165a166b7"/>
    <ds:schemaRef ds:uri="a4f35948-e619-41b3-aa29-22878b09cfd2"/>
    <ds:schemaRef ds:uri="http://www.w3.org/XML/1998/namespace"/>
  </ds:schemaRefs>
</ds:datastoreItem>
</file>

<file path=customXml/itemProps2.xml><?xml version="1.0" encoding="utf-8"?>
<ds:datastoreItem xmlns:ds="http://schemas.openxmlformats.org/officeDocument/2006/customXml" ds:itemID="{FB14945D-DABB-422F-9B28-D299995C9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8942AA-0721-4324-BC2C-A3CB43F24E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Fresh food presentation (widescreen)</Template>
  <TotalTime>1450</TotalTime>
  <Words>1137</Words>
  <Application>Microsoft Office PowerPoint</Application>
  <PresentationFormat>Custom</PresentationFormat>
  <Paragraphs>39</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Constantia</vt:lpstr>
      <vt:lpstr>Cooking 16x9</vt:lpstr>
      <vt:lpstr>Food Sales Analysis</vt:lpstr>
      <vt:lpstr>Title and Content Layout</vt:lpstr>
      <vt:lpstr>INTRODUCTION</vt:lpstr>
      <vt:lpstr>OBJECTIVES</vt:lpstr>
      <vt:lpstr>STATEMENT OF PROBLEM</vt:lpstr>
      <vt:lpstr>DASHBOARD OVERVIEW</vt:lpstr>
      <vt:lpstr>KEY INSIGHTS</vt:lpstr>
      <vt:lpstr>RECOMMENDATIONS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2</cp:revision>
  <dcterms:created xsi:type="dcterms:W3CDTF">2025-11-24T12:00:52Z</dcterms:created>
  <dcterms:modified xsi:type="dcterms:W3CDTF">2025-11-25T12:11:14Z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